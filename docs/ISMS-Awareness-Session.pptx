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</p:sldMasterIdLst>
  <p:notesMasterIdLst>
    <p:notesMasterId r:id="rId12"/>
  </p:notesMasterIdLst>
  <p:sldIdLst>
    <p:sldId id="297" r:id="rId5"/>
    <p:sldId id="307" r:id="rId6"/>
    <p:sldId id="272" r:id="rId7"/>
    <p:sldId id="276" r:id="rId8"/>
    <p:sldId id="296" r:id="rId9"/>
    <p:sldId id="295" r:id="rId10"/>
    <p:sldId id="308" r:id="rId11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Trebuchet MS" panose="020B0603020202020204" pitchFamily="34" charset="0"/>
      <p:regular r:id="rId17"/>
      <p:bold r:id="rId18"/>
      <p:italic r:id="rId19"/>
      <p:boldItalic r:id="rId20"/>
    </p:embeddedFont>
    <p:embeddedFont>
      <p:font typeface="Wingdings 3" panose="05040102010807070707" pitchFamily="18" charset="2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A47F62-33EF-42F7-BD1C-AC9852134D29}">
          <p14:sldIdLst>
            <p14:sldId id="297"/>
            <p14:sldId id="307"/>
            <p14:sldId id="272"/>
            <p14:sldId id="276"/>
            <p14:sldId id="296"/>
            <p14:sldId id="295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pos="1500">
          <p15:clr>
            <a:srgbClr val="A4A3A4"/>
          </p15:clr>
        </p15:guide>
        <p15:guide id="2" pos="5653">
          <p15:clr>
            <a:srgbClr val="9AA0A6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9A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8E29D0-F519-4E47-B57B-C9FE1F072365}">
  <a:tblStyle styleId="{ED8E29D0-F519-4E47-B57B-C9FE1F072365}" styleName="Table_0">
    <a:wholeTbl>
      <a:tcTxStyle b="off" i="off">
        <a:font>
          <a:latin typeface="Gill Sans"/>
          <a:ea typeface="Gill Sans"/>
          <a:cs typeface="Gill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AF4"/>
          </a:solidFill>
        </a:fill>
      </a:tcStyle>
    </a:wholeTbl>
    <a:band1H>
      <a:tcTxStyle/>
      <a:tcStyle>
        <a:tcBdr/>
        <a:fill>
          <a:solidFill>
            <a:srgbClr val="CAD2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2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ill Sans"/>
          <a:ea typeface="Gill Sans"/>
          <a:cs typeface="Gill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"/>
          <a:ea typeface="Gill Sans"/>
          <a:cs typeface="Gill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"/>
          <a:ea typeface="Gill Sans"/>
          <a:cs typeface="Gill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1CF77ED-687F-40FF-BAB5-4E5C201763C1}" styleName="Table_1">
    <a:wholeTbl>
      <a:tcTxStyle b="off" i="off">
        <a:font>
          <a:latin typeface="Gill Sans"/>
          <a:ea typeface="Gill Sans"/>
          <a:cs typeface="Gill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8F4E7"/>
          </a:solidFill>
        </a:fill>
      </a:tcStyle>
    </a:wholeTbl>
    <a:band1H>
      <a:tcTxStyle/>
      <a:tcStyle>
        <a:tcBdr/>
        <a:fill>
          <a:solidFill>
            <a:srgbClr val="F2E7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2E7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ill Sans"/>
          <a:ea typeface="Gill Sans"/>
          <a:cs typeface="Gill Sans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Gill Sans"/>
          <a:ea typeface="Gill Sans"/>
          <a:cs typeface="Gill Sans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"/>
          <a:ea typeface="Gill Sans"/>
          <a:cs typeface="Gill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B2184AC-4CD4-4DE8-BB76-2C70E159896E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571" autoAdjust="0"/>
  </p:normalViewPr>
  <p:slideViewPr>
    <p:cSldViewPr snapToGrid="0">
      <p:cViewPr varScale="1">
        <p:scale>
          <a:sx n="100" d="100"/>
          <a:sy n="100" d="100"/>
        </p:scale>
        <p:origin x="1104" y="78"/>
      </p:cViewPr>
      <p:guideLst>
        <p:guide pos="1500"/>
        <p:guide pos="5653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or Asadullah" userId="55368b8e-4b9b-45fc-97ed-0981ab267ab7" providerId="ADAL" clId="{32A7A3A0-F489-487B-BC0E-B3E205844503}"/>
    <pc:docChg chg="custSel modSld">
      <pc:chgData name="Noor Asadullah" userId="55368b8e-4b9b-45fc-97ed-0981ab267ab7" providerId="ADAL" clId="{32A7A3A0-F489-487B-BC0E-B3E205844503}" dt="2025-06-04T09:13:41.848" v="19" actId="20577"/>
      <pc:docMkLst>
        <pc:docMk/>
      </pc:docMkLst>
      <pc:sldChg chg="modSp mod">
        <pc:chgData name="Noor Asadullah" userId="55368b8e-4b9b-45fc-97ed-0981ab267ab7" providerId="ADAL" clId="{32A7A3A0-F489-487B-BC0E-B3E205844503}" dt="2025-06-04T09:13:41.848" v="19" actId="20577"/>
        <pc:sldMkLst>
          <pc:docMk/>
          <pc:sldMk cId="4132112752" sldId="297"/>
        </pc:sldMkLst>
        <pc:spChg chg="mod">
          <ac:chgData name="Noor Asadullah" userId="55368b8e-4b9b-45fc-97ed-0981ab267ab7" providerId="ADAL" clId="{32A7A3A0-F489-487B-BC0E-B3E205844503}" dt="2025-06-04T09:13:41.848" v="19" actId="20577"/>
          <ac:spMkLst>
            <pc:docMk/>
            <pc:sldMk cId="4132112752" sldId="297"/>
            <ac:spMk id="2" creationId="{992CC3D6-6A20-6E36-DB0F-786B828C7B4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CE63AB-1668-4927-A1D4-B1C0E330F525}" type="doc">
      <dgm:prSet loTypeId="urn:microsoft.com/office/officeart/2005/8/layout/hList1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6437F126-24D9-434D-81F2-F9BDE850B950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Secret</a:t>
          </a:r>
        </a:p>
      </dgm:t>
    </dgm:pt>
    <dgm:pt modelId="{7D053BCE-BE3B-4487-9581-60FF252D5DB9}" type="parTrans" cxnId="{39F3529D-D371-4AEB-A289-AF514B0DE1BC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D14CDBA-E0E5-4626-AC49-B73E9AB1FC05}" type="sibTrans" cxnId="{39F3529D-D371-4AEB-A289-AF514B0DE1BC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093C956-2E63-4F13-A744-1F439982EBF3}">
      <dgm:prSet phldrT="[Text]" custT="1"/>
      <dgm:spPr/>
      <dgm:t>
        <a:bodyPr/>
        <a:lstStyle/>
        <a:p>
          <a:r>
            <a:rPr lang="en-US" sz="1100" dirty="0">
              <a:latin typeface="Calibri" panose="020F0502020204030204" pitchFamily="34" charset="0"/>
              <a:cs typeface="Calibri" panose="020F0502020204030204" pitchFamily="34" charset="0"/>
            </a:rPr>
            <a:t>Information that can be disclosed or shared only with the highest level of </a:t>
          </a:r>
          <a:r>
            <a:rPr lang="en-US" sz="1200" dirty="0">
              <a:latin typeface="Calibri" panose="020F0502020204030204" pitchFamily="34" charset="0"/>
              <a:cs typeface="Calibri" panose="020F0502020204030204" pitchFamily="34" charset="0"/>
            </a:rPr>
            <a:t>authorization</a:t>
          </a:r>
          <a:r>
            <a:rPr lang="en-US" sz="11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dirty="0">
              <a:latin typeface="Calibri" panose="020F0502020204030204" pitchFamily="34" charset="0"/>
              <a:cs typeface="Calibri" panose="020F0502020204030204" pitchFamily="34" charset="0"/>
            </a:rPr>
            <a:t>or</a:t>
          </a:r>
          <a:r>
            <a:rPr lang="en-US" sz="1100" dirty="0">
              <a:latin typeface="Calibri" panose="020F0502020204030204" pitchFamily="34" charset="0"/>
              <a:cs typeface="Calibri" panose="020F0502020204030204" pitchFamily="34" charset="0"/>
            </a:rPr>
            <a:t> approval and only with the minimum number of individuals or groups, who have a critical need to know, and who are bound by the strictest confidentiality agreements or obligations.</a:t>
          </a:r>
        </a:p>
      </dgm:t>
    </dgm:pt>
    <dgm:pt modelId="{23E957B3-F89D-4F1F-B262-407479247DAF}" type="parTrans" cxnId="{AAC10882-14A0-4C4C-A7BD-145862D42DAD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7C8E36C-6E67-4D40-9BFF-01ED1C0A783C}" type="sibTrans" cxnId="{AAC10882-14A0-4C4C-A7BD-145862D42DAD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7C1A603-0EE8-44AA-B0C0-3D94350E1D80}">
      <dgm:prSet phldrT="[Text]" custT="1"/>
      <dgm:spPr/>
      <dgm:t>
        <a:bodyPr/>
        <a:lstStyle/>
        <a:p>
          <a:r>
            <a:rPr lang="en-US" sz="2000" b="1" kern="1200" dirty="0">
              <a:solidFill>
                <a:prstClr val="black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Confidential</a:t>
          </a:r>
        </a:p>
      </dgm:t>
    </dgm:pt>
    <dgm:pt modelId="{65054C73-7DF5-4CE4-A45F-2439462A1F22}" type="parTrans" cxnId="{8B36607D-E29F-4A1A-BE90-E961CA8A22F5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08579E8-22E2-46DF-82A5-48A5663CC2CD}" type="sibTrans" cxnId="{8B36607D-E29F-4A1A-BE90-E961CA8A22F5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8522EBB-AF70-4153-9DC2-0D47BFCE1BD1}">
      <dgm:prSet phldrT="[Text]" custT="1"/>
      <dgm:spPr/>
      <dgm:t>
        <a:bodyPr/>
        <a:lstStyle/>
        <a:p>
          <a:r>
            <a:rPr lang="en-US" sz="1200" dirty="0">
              <a:latin typeface="Calibri" panose="020F0502020204030204" pitchFamily="34" charset="0"/>
              <a:cs typeface="Calibri" panose="020F0502020204030204" pitchFamily="34" charset="0"/>
            </a:rPr>
            <a:t>Information that can be disclosed or shared only with specific individuals or groups, who have a legitimate need to know, and who are bound by confidentiality agreements or obligations.</a:t>
          </a:r>
        </a:p>
      </dgm:t>
    </dgm:pt>
    <dgm:pt modelId="{66D22047-8526-47CC-8CDC-B29AF4B045D0}" type="parTrans" cxnId="{9252A983-1AD4-4C57-8339-9D81C1689747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95CE11D-181E-45A5-9832-CA9ACFAA685F}" type="sibTrans" cxnId="{9252A983-1AD4-4C57-8339-9D81C1689747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6FBC063-102C-462B-AB29-63C695379E97}">
      <dgm:prSet phldrT="[Text]" custT="1"/>
      <dgm:spPr/>
      <dgm:t>
        <a:bodyPr/>
        <a:lstStyle/>
        <a:p>
          <a:r>
            <a:rPr lang="en-US" sz="2000" b="1" kern="1200" dirty="0">
              <a:solidFill>
                <a:prstClr val="black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Internal</a:t>
          </a:r>
          <a:r>
            <a:rPr lang="en-US" sz="2000" b="1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Use</a:t>
          </a:r>
        </a:p>
      </dgm:t>
    </dgm:pt>
    <dgm:pt modelId="{1DB0C9AB-2798-4581-969E-8C849206AC8B}" type="parTrans" cxnId="{F60C6261-16BB-465D-96A0-E6185F5B4755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9F122B8-55B4-4F92-898D-BBB6BBAD752F}" type="sibTrans" cxnId="{F60C6261-16BB-465D-96A0-E6185F5B4755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FEF79CA-69B5-47C9-9ED7-3DB2F4243A59}">
      <dgm:prSet phldrT="[Text]" custT="1"/>
      <dgm:spPr/>
      <dgm:t>
        <a:bodyPr/>
        <a:lstStyle/>
        <a:p>
          <a:r>
            <a:rPr lang="en-US" sz="1200" dirty="0">
              <a:latin typeface="Calibri" panose="020F0502020204030204" pitchFamily="34" charset="0"/>
              <a:cs typeface="Calibri" panose="020F0502020204030204" pitchFamily="34" charset="0"/>
            </a:rPr>
            <a:t>Information that can be disclosed or shared within the organization, but not with external parties without authorization or approval.</a:t>
          </a:r>
        </a:p>
      </dgm:t>
    </dgm:pt>
    <dgm:pt modelId="{B1595032-6BD3-466A-892D-5F72251DC164}" type="parTrans" cxnId="{5CA49A91-2A96-40CF-BC11-68F4C852B7DC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DD1311B-010D-4682-8EC6-B57C2BD4728E}" type="sibTrans" cxnId="{5CA49A91-2A96-40CF-BC11-68F4C852B7DC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3122FC0-57BB-405E-9DA1-A19C074F71CB}">
      <dgm:prSet phldrT="[Text]" custT="1"/>
      <dgm:spPr/>
      <dgm:t>
        <a:bodyPr/>
        <a:lstStyle/>
        <a:p>
          <a:r>
            <a:rPr lang="en-US" sz="2000" b="1" kern="1200" dirty="0">
              <a:solidFill>
                <a:prstClr val="black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Public</a:t>
          </a:r>
        </a:p>
      </dgm:t>
    </dgm:pt>
    <dgm:pt modelId="{A4BAE9B7-1205-4302-8962-1ACDFC09B1CF}" type="parTrans" cxnId="{5BAA5100-B985-4B12-862E-8A2D19BC0293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C7E74F1-429F-4469-AE1A-5FC547ED76D5}" type="sibTrans" cxnId="{5BAA5100-B985-4B12-862E-8A2D19BC0293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461F867-D9F9-420E-A733-E14BA83F49B7}">
      <dgm:prSet phldrT="[Text]" custT="1"/>
      <dgm:spPr/>
      <dgm:t>
        <a:bodyPr/>
        <a:lstStyle/>
        <a:p>
          <a:r>
            <a:rPr lang="en-US" sz="1200" dirty="0">
              <a:latin typeface="Calibri" panose="020F0502020204030204" pitchFamily="34" charset="0"/>
              <a:cs typeface="Calibri" panose="020F0502020204030204" pitchFamily="34" charset="0"/>
            </a:rPr>
            <a:t>Information that can be freely disclosed or shared with anyone without restriction.</a:t>
          </a:r>
        </a:p>
      </dgm:t>
    </dgm:pt>
    <dgm:pt modelId="{C50418C0-3EA5-49BB-8D1E-27DB05325A55}" type="parTrans" cxnId="{B4375204-8093-4F58-9350-18247C5E9E06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03DCADE-BF57-45B2-AAF0-4F88ACA55F33}" type="sibTrans" cxnId="{B4375204-8093-4F58-9350-18247C5E9E06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FEFAFBE-EE92-4187-88BB-63A9524AB4BF}" type="pres">
      <dgm:prSet presAssocID="{F0CE63AB-1668-4927-A1D4-B1C0E330F525}" presName="Name0" presStyleCnt="0">
        <dgm:presLayoutVars>
          <dgm:dir/>
          <dgm:animLvl val="lvl"/>
          <dgm:resizeHandles val="exact"/>
        </dgm:presLayoutVars>
      </dgm:prSet>
      <dgm:spPr/>
    </dgm:pt>
    <dgm:pt modelId="{C2CDCB6A-C13D-4F2C-9005-7811ADE3853C}" type="pres">
      <dgm:prSet presAssocID="{6437F126-24D9-434D-81F2-F9BDE850B950}" presName="composite" presStyleCnt="0"/>
      <dgm:spPr/>
    </dgm:pt>
    <dgm:pt modelId="{40F7D30C-DBA0-4AB1-95C3-8410CD8F5B25}" type="pres">
      <dgm:prSet presAssocID="{6437F126-24D9-434D-81F2-F9BDE850B950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D6191055-4292-48DE-8C5D-971506745BDD}" type="pres">
      <dgm:prSet presAssocID="{6437F126-24D9-434D-81F2-F9BDE850B950}" presName="desTx" presStyleLbl="alignAccFollowNode1" presStyleIdx="0" presStyleCnt="4">
        <dgm:presLayoutVars>
          <dgm:bulletEnabled val="1"/>
        </dgm:presLayoutVars>
      </dgm:prSet>
      <dgm:spPr/>
    </dgm:pt>
    <dgm:pt modelId="{AA60F752-8041-4010-B50F-511E1F96D784}" type="pres">
      <dgm:prSet presAssocID="{4D14CDBA-E0E5-4626-AC49-B73E9AB1FC05}" presName="space" presStyleCnt="0"/>
      <dgm:spPr/>
    </dgm:pt>
    <dgm:pt modelId="{2A097A27-83DE-468E-91DE-602216129745}" type="pres">
      <dgm:prSet presAssocID="{F7C1A603-0EE8-44AA-B0C0-3D94350E1D80}" presName="composite" presStyleCnt="0"/>
      <dgm:spPr/>
    </dgm:pt>
    <dgm:pt modelId="{EC719FD1-E7BD-498A-AB7E-80D4820EB346}" type="pres">
      <dgm:prSet presAssocID="{F7C1A603-0EE8-44AA-B0C0-3D94350E1D80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D68C4DF-3812-4D14-8E1B-193F1B31E223}" type="pres">
      <dgm:prSet presAssocID="{F7C1A603-0EE8-44AA-B0C0-3D94350E1D80}" presName="desTx" presStyleLbl="alignAccFollowNode1" presStyleIdx="1" presStyleCnt="4">
        <dgm:presLayoutVars>
          <dgm:bulletEnabled val="1"/>
        </dgm:presLayoutVars>
      </dgm:prSet>
      <dgm:spPr/>
    </dgm:pt>
    <dgm:pt modelId="{1691C22F-7DAB-41EE-AFA3-6BB380751FD7}" type="pres">
      <dgm:prSet presAssocID="{F08579E8-22E2-46DF-82A5-48A5663CC2CD}" presName="space" presStyleCnt="0"/>
      <dgm:spPr/>
    </dgm:pt>
    <dgm:pt modelId="{B24B8522-454F-4143-8A9C-634298451F4C}" type="pres">
      <dgm:prSet presAssocID="{A6FBC063-102C-462B-AB29-63C695379E97}" presName="composite" presStyleCnt="0"/>
      <dgm:spPr/>
    </dgm:pt>
    <dgm:pt modelId="{10113F90-FF14-4B89-B169-C42C2ADD1EF8}" type="pres">
      <dgm:prSet presAssocID="{A6FBC063-102C-462B-AB29-63C695379E9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EE93AFDE-0E08-4DFC-BC6A-05A078FDE50C}" type="pres">
      <dgm:prSet presAssocID="{A6FBC063-102C-462B-AB29-63C695379E97}" presName="desTx" presStyleLbl="alignAccFollowNode1" presStyleIdx="2" presStyleCnt="4">
        <dgm:presLayoutVars>
          <dgm:bulletEnabled val="1"/>
        </dgm:presLayoutVars>
      </dgm:prSet>
      <dgm:spPr/>
    </dgm:pt>
    <dgm:pt modelId="{53815773-F684-48A9-A657-B1D364C46933}" type="pres">
      <dgm:prSet presAssocID="{99F122B8-55B4-4F92-898D-BBB6BBAD752F}" presName="space" presStyleCnt="0"/>
      <dgm:spPr/>
    </dgm:pt>
    <dgm:pt modelId="{653CC8E2-EF98-4322-8505-F7BE83FB8AC7}" type="pres">
      <dgm:prSet presAssocID="{03122FC0-57BB-405E-9DA1-A19C074F71CB}" presName="composite" presStyleCnt="0"/>
      <dgm:spPr/>
    </dgm:pt>
    <dgm:pt modelId="{72987CC8-7015-42C6-B51A-5A91F43578ED}" type="pres">
      <dgm:prSet presAssocID="{03122FC0-57BB-405E-9DA1-A19C074F71CB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A30C0B9E-0ACD-4A42-8F89-C2EAA92283AA}" type="pres">
      <dgm:prSet presAssocID="{03122FC0-57BB-405E-9DA1-A19C074F71CB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5BAA5100-B985-4B12-862E-8A2D19BC0293}" srcId="{F0CE63AB-1668-4927-A1D4-B1C0E330F525}" destId="{03122FC0-57BB-405E-9DA1-A19C074F71CB}" srcOrd="3" destOrd="0" parTransId="{A4BAE9B7-1205-4302-8962-1ACDFC09B1CF}" sibTransId="{7C7E74F1-429F-4469-AE1A-5FC547ED76D5}"/>
    <dgm:cxn modelId="{AE887101-6C28-4781-BADC-4A831275A119}" type="presOf" srcId="{6437F126-24D9-434D-81F2-F9BDE850B950}" destId="{40F7D30C-DBA0-4AB1-95C3-8410CD8F5B25}" srcOrd="0" destOrd="0" presId="urn:microsoft.com/office/officeart/2005/8/layout/hList1"/>
    <dgm:cxn modelId="{B4375204-8093-4F58-9350-18247C5E9E06}" srcId="{03122FC0-57BB-405E-9DA1-A19C074F71CB}" destId="{3461F867-D9F9-420E-A733-E14BA83F49B7}" srcOrd="0" destOrd="0" parTransId="{C50418C0-3EA5-49BB-8D1E-27DB05325A55}" sibTransId="{B03DCADE-BF57-45B2-AAF0-4F88ACA55F33}"/>
    <dgm:cxn modelId="{46F3CE1C-19E8-4AB5-A81C-952A1559E70B}" type="presOf" srcId="{03122FC0-57BB-405E-9DA1-A19C074F71CB}" destId="{72987CC8-7015-42C6-B51A-5A91F43578ED}" srcOrd="0" destOrd="0" presId="urn:microsoft.com/office/officeart/2005/8/layout/hList1"/>
    <dgm:cxn modelId="{0CB45531-B625-444F-A451-6A84304C146E}" type="presOf" srcId="{F7C1A603-0EE8-44AA-B0C0-3D94350E1D80}" destId="{EC719FD1-E7BD-498A-AB7E-80D4820EB346}" srcOrd="0" destOrd="0" presId="urn:microsoft.com/office/officeart/2005/8/layout/hList1"/>
    <dgm:cxn modelId="{F60C6261-16BB-465D-96A0-E6185F5B4755}" srcId="{F0CE63AB-1668-4927-A1D4-B1C0E330F525}" destId="{A6FBC063-102C-462B-AB29-63C695379E97}" srcOrd="2" destOrd="0" parTransId="{1DB0C9AB-2798-4581-969E-8C849206AC8B}" sibTransId="{99F122B8-55B4-4F92-898D-BBB6BBAD752F}"/>
    <dgm:cxn modelId="{52C27B72-5512-4ADB-8A9F-E5555270B168}" type="presOf" srcId="{5093C956-2E63-4F13-A744-1F439982EBF3}" destId="{D6191055-4292-48DE-8C5D-971506745BDD}" srcOrd="0" destOrd="0" presId="urn:microsoft.com/office/officeart/2005/8/layout/hList1"/>
    <dgm:cxn modelId="{8B36607D-E29F-4A1A-BE90-E961CA8A22F5}" srcId="{F0CE63AB-1668-4927-A1D4-B1C0E330F525}" destId="{F7C1A603-0EE8-44AA-B0C0-3D94350E1D80}" srcOrd="1" destOrd="0" parTransId="{65054C73-7DF5-4CE4-A45F-2439462A1F22}" sibTransId="{F08579E8-22E2-46DF-82A5-48A5663CC2CD}"/>
    <dgm:cxn modelId="{AAC10882-14A0-4C4C-A7BD-145862D42DAD}" srcId="{6437F126-24D9-434D-81F2-F9BDE850B950}" destId="{5093C956-2E63-4F13-A744-1F439982EBF3}" srcOrd="0" destOrd="0" parTransId="{23E957B3-F89D-4F1F-B262-407479247DAF}" sibTransId="{A7C8E36C-6E67-4D40-9BFF-01ED1C0A783C}"/>
    <dgm:cxn modelId="{9252A983-1AD4-4C57-8339-9D81C1689747}" srcId="{F7C1A603-0EE8-44AA-B0C0-3D94350E1D80}" destId="{E8522EBB-AF70-4153-9DC2-0D47BFCE1BD1}" srcOrd="0" destOrd="0" parTransId="{66D22047-8526-47CC-8CDC-B29AF4B045D0}" sibTransId="{895CE11D-181E-45A5-9832-CA9ACFAA685F}"/>
    <dgm:cxn modelId="{5CA49A91-2A96-40CF-BC11-68F4C852B7DC}" srcId="{A6FBC063-102C-462B-AB29-63C695379E97}" destId="{EFEF79CA-69B5-47C9-9ED7-3DB2F4243A59}" srcOrd="0" destOrd="0" parTransId="{B1595032-6BD3-466A-892D-5F72251DC164}" sibTransId="{DDD1311B-010D-4682-8EC6-B57C2BD4728E}"/>
    <dgm:cxn modelId="{39F3529D-D371-4AEB-A289-AF514B0DE1BC}" srcId="{F0CE63AB-1668-4927-A1D4-B1C0E330F525}" destId="{6437F126-24D9-434D-81F2-F9BDE850B950}" srcOrd="0" destOrd="0" parTransId="{7D053BCE-BE3B-4487-9581-60FF252D5DB9}" sibTransId="{4D14CDBA-E0E5-4626-AC49-B73E9AB1FC05}"/>
    <dgm:cxn modelId="{DA25F4D2-E662-4BDC-9507-A4AA6F15685A}" type="presOf" srcId="{3461F867-D9F9-420E-A733-E14BA83F49B7}" destId="{A30C0B9E-0ACD-4A42-8F89-C2EAA92283AA}" srcOrd="0" destOrd="0" presId="urn:microsoft.com/office/officeart/2005/8/layout/hList1"/>
    <dgm:cxn modelId="{2942E9D5-C60D-4502-B044-85786005A093}" type="presOf" srcId="{A6FBC063-102C-462B-AB29-63C695379E97}" destId="{10113F90-FF14-4B89-B169-C42C2ADD1EF8}" srcOrd="0" destOrd="0" presId="urn:microsoft.com/office/officeart/2005/8/layout/hList1"/>
    <dgm:cxn modelId="{A41652E0-CA62-46D0-9E4C-5CFF1C07171B}" type="presOf" srcId="{F0CE63AB-1668-4927-A1D4-B1C0E330F525}" destId="{DFEFAFBE-EE92-4187-88BB-63A9524AB4BF}" srcOrd="0" destOrd="0" presId="urn:microsoft.com/office/officeart/2005/8/layout/hList1"/>
    <dgm:cxn modelId="{DF3867E5-F801-4588-9DC2-69152D7A10C7}" type="presOf" srcId="{EFEF79CA-69B5-47C9-9ED7-3DB2F4243A59}" destId="{EE93AFDE-0E08-4DFC-BC6A-05A078FDE50C}" srcOrd="0" destOrd="0" presId="urn:microsoft.com/office/officeart/2005/8/layout/hList1"/>
    <dgm:cxn modelId="{E0221EEE-D4E2-4329-9C41-E3D36CE5117C}" type="presOf" srcId="{E8522EBB-AF70-4153-9DC2-0D47BFCE1BD1}" destId="{6D68C4DF-3812-4D14-8E1B-193F1B31E223}" srcOrd="0" destOrd="0" presId="urn:microsoft.com/office/officeart/2005/8/layout/hList1"/>
    <dgm:cxn modelId="{A2C3094E-8168-40E5-9B7A-C9B6D9878F1F}" type="presParOf" srcId="{DFEFAFBE-EE92-4187-88BB-63A9524AB4BF}" destId="{C2CDCB6A-C13D-4F2C-9005-7811ADE3853C}" srcOrd="0" destOrd="0" presId="urn:microsoft.com/office/officeart/2005/8/layout/hList1"/>
    <dgm:cxn modelId="{8A012303-E5FC-4EF8-BE4C-B891ED4F8C1F}" type="presParOf" srcId="{C2CDCB6A-C13D-4F2C-9005-7811ADE3853C}" destId="{40F7D30C-DBA0-4AB1-95C3-8410CD8F5B25}" srcOrd="0" destOrd="0" presId="urn:microsoft.com/office/officeart/2005/8/layout/hList1"/>
    <dgm:cxn modelId="{1B14E898-7D6F-4260-82C8-B18BE942FBFC}" type="presParOf" srcId="{C2CDCB6A-C13D-4F2C-9005-7811ADE3853C}" destId="{D6191055-4292-48DE-8C5D-971506745BDD}" srcOrd="1" destOrd="0" presId="urn:microsoft.com/office/officeart/2005/8/layout/hList1"/>
    <dgm:cxn modelId="{696FE771-736B-49D5-9F6F-57028B5934D1}" type="presParOf" srcId="{DFEFAFBE-EE92-4187-88BB-63A9524AB4BF}" destId="{AA60F752-8041-4010-B50F-511E1F96D784}" srcOrd="1" destOrd="0" presId="urn:microsoft.com/office/officeart/2005/8/layout/hList1"/>
    <dgm:cxn modelId="{CC2A0231-0AA6-4BF5-A89E-950AB447B43E}" type="presParOf" srcId="{DFEFAFBE-EE92-4187-88BB-63A9524AB4BF}" destId="{2A097A27-83DE-468E-91DE-602216129745}" srcOrd="2" destOrd="0" presId="urn:microsoft.com/office/officeart/2005/8/layout/hList1"/>
    <dgm:cxn modelId="{DBAB0044-73DD-429A-8D91-2AB701CA6926}" type="presParOf" srcId="{2A097A27-83DE-468E-91DE-602216129745}" destId="{EC719FD1-E7BD-498A-AB7E-80D4820EB346}" srcOrd="0" destOrd="0" presId="urn:microsoft.com/office/officeart/2005/8/layout/hList1"/>
    <dgm:cxn modelId="{39E8CD0A-ED52-4EE3-BF80-392A2E008FFC}" type="presParOf" srcId="{2A097A27-83DE-468E-91DE-602216129745}" destId="{6D68C4DF-3812-4D14-8E1B-193F1B31E223}" srcOrd="1" destOrd="0" presId="urn:microsoft.com/office/officeart/2005/8/layout/hList1"/>
    <dgm:cxn modelId="{10E3294C-D5B3-4A20-8D2C-BECC6B8BD8DC}" type="presParOf" srcId="{DFEFAFBE-EE92-4187-88BB-63A9524AB4BF}" destId="{1691C22F-7DAB-41EE-AFA3-6BB380751FD7}" srcOrd="3" destOrd="0" presId="urn:microsoft.com/office/officeart/2005/8/layout/hList1"/>
    <dgm:cxn modelId="{4EBAEC20-F21C-45A5-8E2F-90297B4D0E6B}" type="presParOf" srcId="{DFEFAFBE-EE92-4187-88BB-63A9524AB4BF}" destId="{B24B8522-454F-4143-8A9C-634298451F4C}" srcOrd="4" destOrd="0" presId="urn:microsoft.com/office/officeart/2005/8/layout/hList1"/>
    <dgm:cxn modelId="{7C2DA4A3-2746-48D3-981B-70AB5D14B43E}" type="presParOf" srcId="{B24B8522-454F-4143-8A9C-634298451F4C}" destId="{10113F90-FF14-4B89-B169-C42C2ADD1EF8}" srcOrd="0" destOrd="0" presId="urn:microsoft.com/office/officeart/2005/8/layout/hList1"/>
    <dgm:cxn modelId="{3B03E931-0BD9-4B68-9B33-5B590A27ECB2}" type="presParOf" srcId="{B24B8522-454F-4143-8A9C-634298451F4C}" destId="{EE93AFDE-0E08-4DFC-BC6A-05A078FDE50C}" srcOrd="1" destOrd="0" presId="urn:microsoft.com/office/officeart/2005/8/layout/hList1"/>
    <dgm:cxn modelId="{AD271BF1-BBBC-4168-B3E1-A6E007ADBC0C}" type="presParOf" srcId="{DFEFAFBE-EE92-4187-88BB-63A9524AB4BF}" destId="{53815773-F684-48A9-A657-B1D364C46933}" srcOrd="5" destOrd="0" presId="urn:microsoft.com/office/officeart/2005/8/layout/hList1"/>
    <dgm:cxn modelId="{B7708FA5-1A16-4953-AAE2-98D4AA28AAC8}" type="presParOf" srcId="{DFEFAFBE-EE92-4187-88BB-63A9524AB4BF}" destId="{653CC8E2-EF98-4322-8505-F7BE83FB8AC7}" srcOrd="6" destOrd="0" presId="urn:microsoft.com/office/officeart/2005/8/layout/hList1"/>
    <dgm:cxn modelId="{D9A185E3-2D81-4C81-AFFF-E46682AD94C5}" type="presParOf" srcId="{653CC8E2-EF98-4322-8505-F7BE83FB8AC7}" destId="{72987CC8-7015-42C6-B51A-5A91F43578ED}" srcOrd="0" destOrd="0" presId="urn:microsoft.com/office/officeart/2005/8/layout/hList1"/>
    <dgm:cxn modelId="{AE3E55D7-F876-4088-A20E-9BE7B9131B17}" type="presParOf" srcId="{653CC8E2-EF98-4322-8505-F7BE83FB8AC7}" destId="{A30C0B9E-0ACD-4A42-8F89-C2EAA92283A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7D30C-DBA0-4AB1-95C3-8410CD8F5B25}">
      <dsp:nvSpPr>
        <dsp:cNvPr id="0" name=""/>
        <dsp:cNvSpPr/>
      </dsp:nvSpPr>
      <dsp:spPr>
        <a:xfrm>
          <a:off x="3046" y="4549"/>
          <a:ext cx="1831808" cy="732723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Secret</a:t>
          </a:r>
        </a:p>
      </dsp:txBody>
      <dsp:txXfrm>
        <a:off x="3046" y="4549"/>
        <a:ext cx="1831808" cy="732723"/>
      </dsp:txXfrm>
    </dsp:sp>
    <dsp:sp modelId="{D6191055-4292-48DE-8C5D-971506745BDD}">
      <dsp:nvSpPr>
        <dsp:cNvPr id="0" name=""/>
        <dsp:cNvSpPr/>
      </dsp:nvSpPr>
      <dsp:spPr>
        <a:xfrm>
          <a:off x="3046" y="737273"/>
          <a:ext cx="1831808" cy="193248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Calibri" panose="020F0502020204030204" pitchFamily="34" charset="0"/>
              <a:cs typeface="Calibri" panose="020F0502020204030204" pitchFamily="34" charset="0"/>
            </a:rPr>
            <a:t>Information that can be disclosed or shared only with the highest level of </a:t>
          </a:r>
          <a:r>
            <a:rPr lang="en-US" sz="1200" kern="1200" dirty="0">
              <a:latin typeface="Calibri" panose="020F0502020204030204" pitchFamily="34" charset="0"/>
              <a:cs typeface="Calibri" panose="020F0502020204030204" pitchFamily="34" charset="0"/>
            </a:rPr>
            <a:t>authorization</a:t>
          </a:r>
          <a:r>
            <a:rPr lang="en-US" sz="11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kern="1200" dirty="0">
              <a:latin typeface="Calibri" panose="020F0502020204030204" pitchFamily="34" charset="0"/>
              <a:cs typeface="Calibri" panose="020F0502020204030204" pitchFamily="34" charset="0"/>
            </a:rPr>
            <a:t>or</a:t>
          </a:r>
          <a:r>
            <a:rPr lang="en-US" sz="1100" kern="1200" dirty="0">
              <a:latin typeface="Calibri" panose="020F0502020204030204" pitchFamily="34" charset="0"/>
              <a:cs typeface="Calibri" panose="020F0502020204030204" pitchFamily="34" charset="0"/>
            </a:rPr>
            <a:t> approval and only with the minimum number of individuals or groups, who have a critical need to know, and who are bound by the strictest confidentiality agreements or obligations.</a:t>
          </a:r>
        </a:p>
      </dsp:txBody>
      <dsp:txXfrm>
        <a:off x="3046" y="737273"/>
        <a:ext cx="1831808" cy="1932480"/>
      </dsp:txXfrm>
    </dsp:sp>
    <dsp:sp modelId="{EC719FD1-E7BD-498A-AB7E-80D4820EB346}">
      <dsp:nvSpPr>
        <dsp:cNvPr id="0" name=""/>
        <dsp:cNvSpPr/>
      </dsp:nvSpPr>
      <dsp:spPr>
        <a:xfrm>
          <a:off x="2091307" y="4549"/>
          <a:ext cx="1831808" cy="732723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19050" cap="rnd" cmpd="sng" algn="ctr">
          <a:solidFill>
            <a:schemeClr val="accent2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black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Confidential</a:t>
          </a:r>
        </a:p>
      </dsp:txBody>
      <dsp:txXfrm>
        <a:off x="2091307" y="4549"/>
        <a:ext cx="1831808" cy="732723"/>
      </dsp:txXfrm>
    </dsp:sp>
    <dsp:sp modelId="{6D68C4DF-3812-4D14-8E1B-193F1B31E223}">
      <dsp:nvSpPr>
        <dsp:cNvPr id="0" name=""/>
        <dsp:cNvSpPr/>
      </dsp:nvSpPr>
      <dsp:spPr>
        <a:xfrm>
          <a:off x="2091307" y="737273"/>
          <a:ext cx="1831808" cy="193248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alibri" panose="020F0502020204030204" pitchFamily="34" charset="0"/>
              <a:cs typeface="Calibri" panose="020F0502020204030204" pitchFamily="34" charset="0"/>
            </a:rPr>
            <a:t>Information that can be disclosed or shared only with specific individuals or groups, who have a legitimate need to know, and who are bound by confidentiality agreements or obligations.</a:t>
          </a:r>
        </a:p>
      </dsp:txBody>
      <dsp:txXfrm>
        <a:off x="2091307" y="737273"/>
        <a:ext cx="1831808" cy="1932480"/>
      </dsp:txXfrm>
    </dsp:sp>
    <dsp:sp modelId="{10113F90-FF14-4B89-B169-C42C2ADD1EF8}">
      <dsp:nvSpPr>
        <dsp:cNvPr id="0" name=""/>
        <dsp:cNvSpPr/>
      </dsp:nvSpPr>
      <dsp:spPr>
        <a:xfrm>
          <a:off x="4179569" y="4549"/>
          <a:ext cx="1831808" cy="732723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19050" cap="rnd" cmpd="sng" algn="ctr">
          <a:solidFill>
            <a:schemeClr val="accent2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black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Internal</a:t>
          </a:r>
          <a:r>
            <a:rPr lang="en-US" sz="2000" b="1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Use</a:t>
          </a:r>
        </a:p>
      </dsp:txBody>
      <dsp:txXfrm>
        <a:off x="4179569" y="4549"/>
        <a:ext cx="1831808" cy="732723"/>
      </dsp:txXfrm>
    </dsp:sp>
    <dsp:sp modelId="{EE93AFDE-0E08-4DFC-BC6A-05A078FDE50C}">
      <dsp:nvSpPr>
        <dsp:cNvPr id="0" name=""/>
        <dsp:cNvSpPr/>
      </dsp:nvSpPr>
      <dsp:spPr>
        <a:xfrm>
          <a:off x="4179569" y="737273"/>
          <a:ext cx="1831808" cy="193248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alibri" panose="020F0502020204030204" pitchFamily="34" charset="0"/>
              <a:cs typeface="Calibri" panose="020F0502020204030204" pitchFamily="34" charset="0"/>
            </a:rPr>
            <a:t>Information that can be disclosed or shared within the organization, but not with external parties without authorization or approval.</a:t>
          </a:r>
        </a:p>
      </dsp:txBody>
      <dsp:txXfrm>
        <a:off x="4179569" y="737273"/>
        <a:ext cx="1831808" cy="1932480"/>
      </dsp:txXfrm>
    </dsp:sp>
    <dsp:sp modelId="{72987CC8-7015-42C6-B51A-5A91F43578ED}">
      <dsp:nvSpPr>
        <dsp:cNvPr id="0" name=""/>
        <dsp:cNvSpPr/>
      </dsp:nvSpPr>
      <dsp:spPr>
        <a:xfrm>
          <a:off x="6267830" y="4549"/>
          <a:ext cx="1831808" cy="732723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9050" cap="rnd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black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Public</a:t>
          </a:r>
        </a:p>
      </dsp:txBody>
      <dsp:txXfrm>
        <a:off x="6267830" y="4549"/>
        <a:ext cx="1831808" cy="732723"/>
      </dsp:txXfrm>
    </dsp:sp>
    <dsp:sp modelId="{A30C0B9E-0ACD-4A42-8F89-C2EAA92283AA}">
      <dsp:nvSpPr>
        <dsp:cNvPr id="0" name=""/>
        <dsp:cNvSpPr/>
      </dsp:nvSpPr>
      <dsp:spPr>
        <a:xfrm>
          <a:off x="6267830" y="737273"/>
          <a:ext cx="1831808" cy="193248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alibri" panose="020F0502020204030204" pitchFamily="34" charset="0"/>
              <a:cs typeface="Calibri" panose="020F0502020204030204" pitchFamily="34" charset="0"/>
            </a:rPr>
            <a:t>Information that can be freely disclosed or shared with anyone without restriction.</a:t>
          </a:r>
        </a:p>
      </dsp:txBody>
      <dsp:txXfrm>
        <a:off x="6267830" y="737273"/>
        <a:ext cx="1831808" cy="1932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aed841256e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g1aed841256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062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aed841256e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Push the </a:t>
            </a:r>
            <a:r>
              <a:rPr lang="en-US" dirty="0" err="1"/>
              <a:t>OutThink</a:t>
            </a:r>
            <a:r>
              <a:rPr lang="en-US" dirty="0"/>
              <a:t> Platform in a slide and call to action and training </a:t>
            </a:r>
            <a:r>
              <a:rPr lang="en-US"/>
              <a:t>minutes consideration</a:t>
            </a:r>
            <a:endParaRPr dirty="0"/>
          </a:p>
        </p:txBody>
      </p:sp>
      <p:sp>
        <p:nvSpPr>
          <p:cNvPr id="159" name="Google Shape;159;g1aed841256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5183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aed841256e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dirty="0"/>
              <a:t>Secret - Disclosure of secret information would have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dirty="0"/>
              <a:t>a serious impact on long-term business objectives or put the survival of the organization at risk.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dirty="0"/>
              <a:t>Confidential - Disclosure would have a significant short-term impact on operations or business objectives.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dirty="0"/>
              <a:t>General Business Use - Disclosure of internal information would cause minor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dirty="0"/>
              <a:t>reputational damage or minor operational impact.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dirty="0"/>
              <a:t>Public - Disclosure of public information would cause no harm to the organization.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sz="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000" dirty="0"/>
              <a:t> it is strongly recommended for end users to utilize their OneDrive storage, ensure that </a:t>
            </a:r>
            <a:r>
              <a:rPr lang="en-US" sz="700" dirty="0"/>
              <a:t>sync is turned on.</a:t>
            </a:r>
          </a:p>
        </p:txBody>
      </p:sp>
      <p:sp>
        <p:nvSpPr>
          <p:cNvPr id="159" name="Google Shape;159;g1aed841256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1901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aed841256e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g1aed841256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4687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aed841256e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g1aed841256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5492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85132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96803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9383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1258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7EF09E-DF04-5853-2D84-A91722B3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4DCE8D3-2A3C-EB8C-C245-6840D0902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9BCCE33-0938-A6FD-86D1-D088BBFD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0007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86277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904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381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338126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965940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715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881458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83534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9373391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3927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0360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5718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3.tiff"/><Relationship Id="rId7" Type="http://schemas.openxmlformats.org/officeDocument/2006/relationships/image" Target="../media/image7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iff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eams.microsoft.com/l/entity/81fef3a6-72aa-4648-a763-de824aeafb7d/_djb2_msteams_prefix_1532045625?context=%7B%22channelId%22%3A%2219%3A_un1YcDhU9XeL9PB6cJhdhPhUIq6SziJXQT4adsiH9s1%40thread.tacv2%22%7D&amp;tenantId=c2b73a24-af9b-400c-bb1d-72a83d997477" TargetMode="Externa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8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9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10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4249615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Isosceles Triangle 12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03900" y="2863850"/>
            <a:ext cx="3337719" cy="2279650"/>
          </a:xfrm>
          <a:prstGeom prst="triangle">
            <a:avLst>
              <a:gd name="adj" fmla="val 100000"/>
            </a:avLst>
          </a:prstGeom>
          <a:solidFill>
            <a:schemeClr val="accent1"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9230" y="0"/>
            <a:ext cx="1324770" cy="51435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00950" y="0"/>
            <a:ext cx="1295400" cy="51435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2761059"/>
            <a:ext cx="3572668" cy="2382441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E7B048B8-F115-EDAC-9A29-46E8C360A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3038124"/>
            <a:ext cx="5825202" cy="822675"/>
          </a:xfrm>
        </p:spPr>
        <p:txBody>
          <a:bodyPr>
            <a:normAutofit/>
          </a:bodyPr>
          <a:lstStyle/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2CC3D6-6A20-6E36-DB0F-786B828C7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300" y="1047750"/>
            <a:ext cx="5825202" cy="1990377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ISMS –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Awareness Session	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52BE58B-FE08-CF58-E910-5C8AF42A4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225078"/>
            <a:ext cx="18954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2112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Threats and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1476" y="963043"/>
            <a:ext cx="7722524" cy="3401693"/>
          </a:xfrm>
        </p:spPr>
        <p:txBody>
          <a:bodyPr numCol="2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Malware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Spear Phishing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Malicious Links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Passwords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Browsing in Public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Data Compromise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412E3-E6DC-DA45-B319-00B642F7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98" y="1205346"/>
            <a:ext cx="327623" cy="3232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F9AF73-382C-FB4D-98A2-8FD2ED5B2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998" y="1953187"/>
            <a:ext cx="327623" cy="4068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8EBEFE-0358-A343-B3D8-FF64B20A2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44" y="3090419"/>
            <a:ext cx="340077" cy="3400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0FD824-75DE-3F45-9219-E368CC203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991" y="1205346"/>
            <a:ext cx="323274" cy="3232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44B6CA-2217-644D-AF37-6B38692A9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3991" y="2093565"/>
            <a:ext cx="323274" cy="2615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C04C5C-CFA5-FB48-82A3-AF599644A0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3991" y="3141805"/>
            <a:ext cx="308357" cy="23730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B4D016E-18F5-4FC5-A4FE-4D1653F8EBCE}"/>
              </a:ext>
            </a:extLst>
          </p:cNvPr>
          <p:cNvSpPr/>
          <p:nvPr/>
        </p:nvSpPr>
        <p:spPr>
          <a:xfrm>
            <a:off x="3321843" y="4901197"/>
            <a:ext cx="2500313" cy="24230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B2B88D-FACD-44C9-9840-5C494B051272}"/>
              </a:ext>
            </a:extLst>
          </p:cNvPr>
          <p:cNvSpPr/>
          <p:nvPr/>
        </p:nvSpPr>
        <p:spPr>
          <a:xfrm>
            <a:off x="7422356" y="3922503"/>
            <a:ext cx="1635919" cy="9786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494CCD6-DFB8-5B81-E70F-28630DA38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225078"/>
            <a:ext cx="18954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8155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/>
        </p:nvSpPr>
        <p:spPr>
          <a:xfrm>
            <a:off x="1194025" y="456037"/>
            <a:ext cx="6714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Information Security Management System</a:t>
            </a:r>
            <a:endParaRPr sz="2000" b="1" dirty="0">
              <a:solidFill>
                <a:schemeClr val="accent1"/>
              </a:solidFill>
              <a:latin typeface="Calibri" panose="020F0502020204030204" pitchFamily="34" charset="0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164" name="Google Shape;164;p27"/>
          <p:cNvSpPr txBox="1">
            <a:spLocks noGrp="1"/>
          </p:cNvSpPr>
          <p:nvPr>
            <p:ph type="sldNum" sz="quarter" idx="12"/>
          </p:nvPr>
        </p:nvSpPr>
        <p:spPr>
          <a:xfrm>
            <a:off x="7854368" y="4893542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Montserrat"/>
                <a:ea typeface="Montserrat"/>
                <a:cs typeface="Montserrat"/>
                <a:sym typeface="Montserrat"/>
              </a:rPr>
              <a:t>3</a:t>
            </a:fld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9C3B94-7AC6-43EF-9D48-811065386A5E}"/>
              </a:ext>
            </a:extLst>
          </p:cNvPr>
          <p:cNvSpPr/>
          <p:nvPr/>
        </p:nvSpPr>
        <p:spPr>
          <a:xfrm>
            <a:off x="563474" y="1020968"/>
            <a:ext cx="8322809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management system  - Way in which an organization manages the interrelated parts of its business in order to achieve its objectives</a:t>
            </a:r>
          </a:p>
          <a:p>
            <a:pPr algn="just"/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Information security management System (ISMS) – A framework of policies and controls that manage security and risks systematically across the Organization.</a:t>
            </a:r>
          </a:p>
          <a:p>
            <a:pPr algn="just"/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ISO27001 is the Certifiable standard that specifies the </a:t>
            </a:r>
            <a:r>
              <a:rPr lang="en-GB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requirements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GB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establishing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implementing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maintaining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continually improving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an ISMS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Helps comply with Regulatory Requirements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Enhances Organization Reputation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Brings Efficiency in Organization Processes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Reduces the Overall Costs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GB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E48D31-F1EB-2276-5DE4-EA3EBEEF0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680" y="114832"/>
            <a:ext cx="18954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11D926E9-993B-2DC1-A907-6CCF89C49E6B}"/>
              </a:ext>
            </a:extLst>
          </p:cNvPr>
          <p:cNvSpPr/>
          <p:nvPr/>
        </p:nvSpPr>
        <p:spPr>
          <a:xfrm>
            <a:off x="5047488" y="3252348"/>
            <a:ext cx="1463040" cy="119936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Nov2024</a:t>
            </a:r>
          </a:p>
        </p:txBody>
      </p:sp>
    </p:spTree>
    <p:extLst>
      <p:ext uri="{BB962C8B-B14F-4D97-AF65-F5344CB8AC3E}">
        <p14:creationId xmlns:p14="http://schemas.microsoft.com/office/powerpoint/2010/main" val="132184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/>
        </p:nvSpPr>
        <p:spPr>
          <a:xfrm>
            <a:off x="1215000" y="457200"/>
            <a:ext cx="6714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8000"/>
              </a:lnSpc>
              <a:buNone/>
              <a:defRPr sz="2000" b="1">
                <a:solidFill>
                  <a:srgbClr val="2B653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Montserrat"/>
              </a:rPr>
              <a:t>Policies for End Users</a:t>
            </a:r>
            <a:endParaRPr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164" name="Google Shape;164;p27"/>
          <p:cNvSpPr txBox="1">
            <a:spLocks noGrp="1"/>
          </p:cNvSpPr>
          <p:nvPr>
            <p:ph type="sldNum" sz="quarter" idx="12"/>
          </p:nvPr>
        </p:nvSpPr>
        <p:spPr>
          <a:xfrm>
            <a:off x="7854368" y="4893542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Montserrat"/>
                <a:ea typeface="Montserrat"/>
                <a:cs typeface="Montserrat"/>
                <a:sym typeface="Montserrat"/>
              </a:rPr>
              <a:t>4</a:t>
            </a:fld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D9C41-5D03-E856-BE3C-0B6B209D1B5F}"/>
              </a:ext>
            </a:extLst>
          </p:cNvPr>
          <p:cNvSpPr txBox="1"/>
          <p:nvPr/>
        </p:nvSpPr>
        <p:spPr>
          <a:xfrm>
            <a:off x="987552" y="1125962"/>
            <a:ext cx="7338536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/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Physical Security Policy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Clear Desk and Clear Screen Policy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Backup Policy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Teleworking and mobile device policy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Media Handling Policy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Acceptable Use Policy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Information Classification Policy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 Control Procedure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14300" lvl="2" indent="0">
              <a:buNone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2"/>
            <a:endParaRPr lang="en-US" sz="1400" b="1" dirty="0">
              <a:solidFill>
                <a:srgbClr val="2B653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2"/>
            <a:endParaRPr lang="en-US" sz="1400" b="1" dirty="0">
              <a:solidFill>
                <a:srgbClr val="2B653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2"/>
            <a:endParaRPr lang="en-US" b="0" i="0" dirty="0">
              <a:solidFill>
                <a:srgbClr val="37415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089287-C55F-424B-984A-1B386B3A1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693" y="130288"/>
            <a:ext cx="18954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6682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/>
        </p:nvSpPr>
        <p:spPr>
          <a:xfrm>
            <a:off x="1071900" y="403806"/>
            <a:ext cx="6714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8000"/>
              </a:lnSpc>
              <a:buNone/>
              <a:defRPr sz="2000" b="1">
                <a:solidFill>
                  <a:srgbClr val="2B653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Montserrat"/>
              </a:rPr>
              <a:t>Information Classification Matrix</a:t>
            </a:r>
          </a:p>
        </p:txBody>
      </p:sp>
      <p:sp>
        <p:nvSpPr>
          <p:cNvPr id="164" name="Google Shape;164;p27"/>
          <p:cNvSpPr txBox="1">
            <a:spLocks noGrp="1"/>
          </p:cNvSpPr>
          <p:nvPr>
            <p:ph type="sldNum" sz="quarter" idx="12"/>
          </p:nvPr>
        </p:nvSpPr>
        <p:spPr>
          <a:xfrm>
            <a:off x="7854368" y="4893542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Montserrat"/>
                <a:ea typeface="Montserrat"/>
                <a:cs typeface="Montserrat"/>
                <a:sym typeface="Montserrat"/>
              </a:rPr>
              <a:t>5</a:t>
            </a:fld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1DDC2C2-15FB-5EF1-04FF-20E540EA46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8235897"/>
              </p:ext>
            </p:extLst>
          </p:nvPr>
        </p:nvGraphicFramePr>
        <p:xfrm>
          <a:off x="649506" y="938961"/>
          <a:ext cx="8102685" cy="2674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CC4BFE2-3912-C9A9-DFCF-9624F82AF6ED}"/>
              </a:ext>
            </a:extLst>
          </p:cNvPr>
          <p:cNvSpPr txBox="1"/>
          <p:nvPr/>
        </p:nvSpPr>
        <p:spPr>
          <a:xfrm>
            <a:off x="649506" y="3817674"/>
            <a:ext cx="8102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Handling: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Information must be handled as stated in the Information Classification Policy</a:t>
            </a:r>
          </a:p>
          <a:p>
            <a:pPr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Labelling: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Digital and Non-digital information must be labelled based on its classification</a:t>
            </a:r>
          </a:p>
          <a:p>
            <a:pPr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Storage: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Only use Technavious-approved storage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0CE38-A0A5-72CF-2EC9-66706D59F33E}"/>
              </a:ext>
            </a:extLst>
          </p:cNvPr>
          <p:cNvSpPr txBox="1"/>
          <p:nvPr/>
        </p:nvSpPr>
        <p:spPr>
          <a:xfrm>
            <a:off x="649506" y="4627199"/>
            <a:ext cx="8229081" cy="3077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Personal accounts must not be used to access corporate  or its clients’ information.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3C47691-64E0-0F54-F64B-6520973CF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693" y="178476"/>
            <a:ext cx="18954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5584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/>
        </p:nvSpPr>
        <p:spPr>
          <a:xfrm>
            <a:off x="1215000" y="457200"/>
            <a:ext cx="6714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8000"/>
              </a:lnSpc>
              <a:buNone/>
              <a:defRPr sz="2000" b="1">
                <a:solidFill>
                  <a:srgbClr val="2B653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Montserrat"/>
              </a:rPr>
              <a:t>Report an Incident/ IT Support</a:t>
            </a:r>
            <a:endParaRPr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164" name="Google Shape;164;p27"/>
          <p:cNvSpPr txBox="1">
            <a:spLocks noGrp="1"/>
          </p:cNvSpPr>
          <p:nvPr>
            <p:ph type="sldNum" sz="quarter" idx="12"/>
          </p:nvPr>
        </p:nvSpPr>
        <p:spPr>
          <a:xfrm>
            <a:off x="7854368" y="4893542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Montserrat"/>
                <a:ea typeface="Montserrat"/>
                <a:cs typeface="Montserrat"/>
                <a:sym typeface="Montserrat"/>
              </a:rPr>
              <a:t>6</a:t>
            </a:fld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Flowchart: Card 1">
            <a:extLst>
              <a:ext uri="{FF2B5EF4-FFF2-40B4-BE49-F238E27FC236}">
                <a16:creationId xmlns:a16="http://schemas.microsoft.com/office/drawing/2014/main" id="{2B1E84ED-1BED-FA97-420A-37821B02B9F9}"/>
              </a:ext>
            </a:extLst>
          </p:cNvPr>
          <p:cNvSpPr/>
          <p:nvPr/>
        </p:nvSpPr>
        <p:spPr>
          <a:xfrm>
            <a:off x="4926508" y="1439811"/>
            <a:ext cx="4059758" cy="3428338"/>
          </a:xfrm>
          <a:prstGeom prst="flowChartPunchedCard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hape 3564">
            <a:extLst>
              <a:ext uri="{FF2B5EF4-FFF2-40B4-BE49-F238E27FC236}">
                <a16:creationId xmlns:a16="http://schemas.microsoft.com/office/drawing/2014/main" id="{F590E445-5A48-7482-7CE7-8E71A965B2D2}"/>
              </a:ext>
            </a:extLst>
          </p:cNvPr>
          <p:cNvSpPr/>
          <p:nvPr/>
        </p:nvSpPr>
        <p:spPr>
          <a:xfrm>
            <a:off x="3697914" y="4460396"/>
            <a:ext cx="3060769" cy="275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120000"/>
              </a:lnSpc>
              <a:defRPr sz="2500"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 marL="342900" lvl="0" indent="-342900">
              <a:buFont typeface="+mj-lt"/>
              <a:buAutoNum type="arabicPeriod"/>
              <a:defRPr sz="1800"/>
            </a:pPr>
            <a:endParaRPr sz="16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9BCBEF0-2C84-D399-D8C3-ED60C2D3100E}"/>
              </a:ext>
            </a:extLst>
          </p:cNvPr>
          <p:cNvSpPr/>
          <p:nvPr/>
        </p:nvSpPr>
        <p:spPr>
          <a:xfrm>
            <a:off x="5406313" y="1857374"/>
            <a:ext cx="3514856" cy="2897147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indent="-914400"/>
            <a:r>
              <a:rPr lang="en-US" sz="16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Anything that might lead to the compromise of </a:t>
            </a:r>
            <a:r>
              <a:rPr lang="en-US" sz="1600" b="1" dirty="0">
                <a:solidFill>
                  <a:srgbClr val="1F5B9C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Confidentiality, Integrity </a:t>
            </a:r>
            <a:r>
              <a:rPr lang="en-US" sz="16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or </a:t>
            </a:r>
            <a:r>
              <a:rPr lang="en-US" sz="1600" b="1" dirty="0">
                <a:solidFill>
                  <a:srgbClr val="1F5B9C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Availability</a:t>
            </a:r>
            <a:r>
              <a:rPr lang="en-US" sz="16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such as:</a:t>
            </a:r>
          </a:p>
          <a:p>
            <a:pPr indent="-914400"/>
            <a:endParaRPr lang="en-US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Non-compliance with Clear Desk &amp; Clear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Phishing/Spam Email</a:t>
            </a:r>
          </a:p>
        </p:txBody>
      </p:sp>
      <p:pic>
        <p:nvPicPr>
          <p:cNvPr id="8" name="Picture 6" descr="Related image">
            <a:extLst>
              <a:ext uri="{FF2B5EF4-FFF2-40B4-BE49-F238E27FC236}">
                <a16:creationId xmlns:a16="http://schemas.microsoft.com/office/drawing/2014/main" id="{C07A1C43-4E66-E668-D7B3-0F48C4830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86" y="1789796"/>
            <a:ext cx="1101828" cy="110182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414245-12D6-E63A-9119-F85BC700998C}"/>
              </a:ext>
            </a:extLst>
          </p:cNvPr>
          <p:cNvSpPr/>
          <p:nvPr/>
        </p:nvSpPr>
        <p:spPr>
          <a:xfrm>
            <a:off x="560160" y="794849"/>
            <a:ext cx="8361008" cy="780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IT and Information security related incidents shall be promptly reported to the service desk via the Ticket 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Phone or email. Refer to Incident Reporting Procedure.</a:t>
            </a:r>
            <a:endParaRPr lang="en-US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3564">
            <a:extLst>
              <a:ext uri="{FF2B5EF4-FFF2-40B4-BE49-F238E27FC236}">
                <a16:creationId xmlns:a16="http://schemas.microsoft.com/office/drawing/2014/main" id="{A611C642-6E0B-45D7-6BB1-FD98DC6C8B07}"/>
              </a:ext>
            </a:extLst>
          </p:cNvPr>
          <p:cNvSpPr/>
          <p:nvPr/>
        </p:nvSpPr>
        <p:spPr>
          <a:xfrm>
            <a:off x="2106183" y="3681155"/>
            <a:ext cx="2934575" cy="571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120000"/>
              </a:lnSpc>
              <a:defRPr sz="2500"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>
              <a:defRPr sz="1800"/>
            </a:pPr>
            <a:r>
              <a:rPr lang="en-US" sz="1600" dirty="0"/>
              <a:t>2. it.support@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technavious</a:t>
            </a:r>
            <a:r>
              <a:rPr lang="en-US" sz="1600" dirty="0"/>
              <a:t>.com</a:t>
            </a:r>
            <a:endParaRPr lang="en-US" sz="16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lvl="0">
              <a:defRPr sz="1800"/>
            </a:pPr>
            <a:endParaRPr lang="en-US" sz="16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DA8ADD-41B0-F562-F65C-5E5DF9D28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693" y="160293"/>
            <a:ext cx="18954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6AC7273-C6F6-C943-3ADD-D46E0D910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175" y="2139929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 tooltip="https://teams.microsoft.com/l/entity/81fef3a6-72aa-4648-a763-de824aeafb7d/_djb2_msteams_prefix_1532045625?context=%7B%22channelId%22%3A%2219%3A_un1YcDhU9XeL9PB6cJhdhPhUIq6SziJXQT4adsiH9s1%40thread.tacv2%22%7D&amp;tenantId=c2b73a24-af9b-400c-bb1d-72a83d997477"/>
              </a:rPr>
              <a:t>1.Fill | IT Support Desk Form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6" descr="Related image">
            <a:extLst>
              <a:ext uri="{FF2B5EF4-FFF2-40B4-BE49-F238E27FC236}">
                <a16:creationId xmlns:a16="http://schemas.microsoft.com/office/drawing/2014/main" id="{26FAA8CF-EE28-F50D-6A25-B529FF03F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86" y="3246823"/>
            <a:ext cx="1101828" cy="110182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72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/>
        </p:nvSpPr>
        <p:spPr>
          <a:xfrm>
            <a:off x="1215000" y="457200"/>
            <a:ext cx="6714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8000"/>
              </a:lnSpc>
              <a:buNone/>
              <a:defRPr sz="2000" b="1">
                <a:solidFill>
                  <a:srgbClr val="2B653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Montserrat"/>
              </a:rPr>
              <a:t>Report an Incident/ IT Support</a:t>
            </a:r>
            <a:endParaRPr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164" name="Google Shape;164;p27"/>
          <p:cNvSpPr txBox="1">
            <a:spLocks noGrp="1"/>
          </p:cNvSpPr>
          <p:nvPr>
            <p:ph type="sldNum" sz="quarter" idx="12"/>
          </p:nvPr>
        </p:nvSpPr>
        <p:spPr>
          <a:xfrm>
            <a:off x="7854368" y="4893542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Montserrat"/>
                <a:ea typeface="Montserrat"/>
                <a:cs typeface="Montserrat"/>
                <a:sym typeface="Montserrat"/>
              </a:rPr>
              <a:t>7</a:t>
            </a:fld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Flowchart: Card 1">
            <a:extLst>
              <a:ext uri="{FF2B5EF4-FFF2-40B4-BE49-F238E27FC236}">
                <a16:creationId xmlns:a16="http://schemas.microsoft.com/office/drawing/2014/main" id="{2B1E84ED-1BED-FA97-420A-37821B02B9F9}"/>
              </a:ext>
            </a:extLst>
          </p:cNvPr>
          <p:cNvSpPr/>
          <p:nvPr/>
        </p:nvSpPr>
        <p:spPr>
          <a:xfrm>
            <a:off x="4926508" y="1439811"/>
            <a:ext cx="4059758" cy="3428338"/>
          </a:xfrm>
          <a:prstGeom prst="flowChartPunchedCard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hape 3564">
            <a:extLst>
              <a:ext uri="{FF2B5EF4-FFF2-40B4-BE49-F238E27FC236}">
                <a16:creationId xmlns:a16="http://schemas.microsoft.com/office/drawing/2014/main" id="{F590E445-5A48-7482-7CE7-8E71A965B2D2}"/>
              </a:ext>
            </a:extLst>
          </p:cNvPr>
          <p:cNvSpPr/>
          <p:nvPr/>
        </p:nvSpPr>
        <p:spPr>
          <a:xfrm>
            <a:off x="1865739" y="2135801"/>
            <a:ext cx="3060769" cy="571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120000"/>
              </a:lnSpc>
              <a:defRPr sz="2500"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 lvl="0">
              <a:defRPr sz="1800"/>
            </a:pPr>
            <a:r>
              <a:rPr lang="en-US" sz="16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 3.   +91 93634 06839</a:t>
            </a:r>
          </a:p>
          <a:p>
            <a:pPr lvl="0">
              <a:defRPr sz="1800"/>
            </a:pPr>
            <a:r>
              <a:rPr lang="en-US" sz="16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        +91 98949 90156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9BCBEF0-2C84-D399-D8C3-ED60C2D3100E}"/>
              </a:ext>
            </a:extLst>
          </p:cNvPr>
          <p:cNvSpPr/>
          <p:nvPr/>
        </p:nvSpPr>
        <p:spPr>
          <a:xfrm>
            <a:off x="5406313" y="1857374"/>
            <a:ext cx="3514856" cy="2897147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indent="-914400"/>
            <a:r>
              <a:rPr lang="en-US" sz="16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Anything that might lead to the compromise of </a:t>
            </a:r>
            <a:r>
              <a:rPr lang="en-US" sz="1600" b="1" dirty="0">
                <a:solidFill>
                  <a:srgbClr val="1F5B9C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Confidentiality, Integrity </a:t>
            </a:r>
            <a:r>
              <a:rPr lang="en-US" sz="16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or </a:t>
            </a:r>
            <a:r>
              <a:rPr lang="en-US" sz="1600" b="1" dirty="0">
                <a:solidFill>
                  <a:srgbClr val="1F5B9C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Availability</a:t>
            </a:r>
            <a:r>
              <a:rPr lang="en-US" sz="16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such as:</a:t>
            </a:r>
          </a:p>
          <a:p>
            <a:pPr indent="-914400"/>
            <a:endParaRPr lang="en-US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Non-compliance with Clear Desk &amp; Clear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Phishing/Spam Email</a:t>
            </a:r>
          </a:p>
        </p:txBody>
      </p:sp>
      <p:pic>
        <p:nvPicPr>
          <p:cNvPr id="7" name="Picture 2" descr="Image result for phone icon">
            <a:extLst>
              <a:ext uri="{FF2B5EF4-FFF2-40B4-BE49-F238E27FC236}">
                <a16:creationId xmlns:a16="http://schemas.microsoft.com/office/drawing/2014/main" id="{802B8A67-1CBE-251D-186D-B1659EB50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55" y="1738451"/>
            <a:ext cx="1074274" cy="107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hape 3564">
            <a:extLst>
              <a:ext uri="{FF2B5EF4-FFF2-40B4-BE49-F238E27FC236}">
                <a16:creationId xmlns:a16="http://schemas.microsoft.com/office/drawing/2014/main" id="{A611C642-6E0B-45D7-6BB1-FD98DC6C8B07}"/>
              </a:ext>
            </a:extLst>
          </p:cNvPr>
          <p:cNvSpPr/>
          <p:nvPr/>
        </p:nvSpPr>
        <p:spPr>
          <a:xfrm>
            <a:off x="2115708" y="3681155"/>
            <a:ext cx="2934575" cy="275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120000"/>
              </a:lnSpc>
              <a:defRPr sz="2500"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 lvl="0">
              <a:defRPr sz="1800"/>
            </a:pPr>
            <a:endParaRPr sz="16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DA8ADD-41B0-F562-F65C-5E5DF9D28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693" y="160293"/>
            <a:ext cx="18954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221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10" grpId="0" animBg="1"/>
    </p:bldLst>
  </p:timing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99776A5F3BEA43BFC151C9A55183A3" ma:contentTypeVersion="11" ma:contentTypeDescription="Create a new document." ma:contentTypeScope="" ma:versionID="779b71309995d4f314681cfa4798c449">
  <xsd:schema xmlns:xsd="http://www.w3.org/2001/XMLSchema" xmlns:xs="http://www.w3.org/2001/XMLSchema" xmlns:p="http://schemas.microsoft.com/office/2006/metadata/properties" xmlns:ns2="46874ec1-2741-4e65-879e-4ba8157a8501" targetNamespace="http://schemas.microsoft.com/office/2006/metadata/properties" ma:root="true" ma:fieldsID="e0d3f49bfb0283797360ac0d6a705aec" ns2:_="">
    <xsd:import namespace="46874ec1-2741-4e65-879e-4ba8157a85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74ec1-2741-4e65-879e-4ba8157a85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4d536d5-8596-4d17-b637-e8978f9f32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74ec1-2741-4e65-879e-4ba8157a850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03AF504-2639-426A-9EF8-FF85F8C290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6D7E9A-5359-4EB0-B5E8-395C00127E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874ec1-2741-4e65-879e-4ba8157a85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DA92C4-CEB4-4CBD-A827-2EB3628A5398}">
  <ds:schemaRefs>
    <ds:schemaRef ds:uri="http://schemas.microsoft.com/office/2006/metadata/properties"/>
    <ds:schemaRef ds:uri="http://schemas.microsoft.com/office/infopath/2007/PartnerControls"/>
    <ds:schemaRef ds:uri="46874ec1-2741-4e65-879e-4ba8157a850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1369</TotalTime>
  <Words>545</Words>
  <Application>Microsoft Office PowerPoint</Application>
  <PresentationFormat>On-screen Show (16:9)</PresentationFormat>
  <Paragraphs>83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Wingdings</vt:lpstr>
      <vt:lpstr>Arial</vt:lpstr>
      <vt:lpstr>Trebuchet MS</vt:lpstr>
      <vt:lpstr>Wingdings 3</vt:lpstr>
      <vt:lpstr>Calibri</vt:lpstr>
      <vt:lpstr>Montserrat</vt:lpstr>
      <vt:lpstr>Facet</vt:lpstr>
      <vt:lpstr>  ISMS –Awareness Session </vt:lpstr>
      <vt:lpstr>Threats and Practices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kaiser</dc:creator>
  <cp:lastModifiedBy>Noor Asadullah</cp:lastModifiedBy>
  <cp:revision>40</cp:revision>
  <dcterms:modified xsi:type="dcterms:W3CDTF">2025-06-04T09:13:43Z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0x010100AA99776A5F3BEA43BFC151C9A55183A3</vt:lpwstr>
  </property>
  <property fmtid="{D5CDD505-2E9C-101B-9397-08002B2CF9AE}" pid="3" name="MediaServiceImageTags">
    <vt:lpwstr/>
  </property>
</Properties>
</file>